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04000"/>
            <a:ext cx="12192119" cy="90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584000"/>
            <a:ext cx="10752119" cy="11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TrustNode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664000"/>
            <a:ext cx="10752119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4B8A6"/>
                </a:solidFill>
                <a:latin typeface="Calibri"/>
              </a:rPr>
              <a:t>Security 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3528000"/>
            <a:ext cx="10752119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DD5E0"/>
                </a:solidFill>
                <a:latin typeface="Calibri"/>
              </a:rPr>
              <a:t>Built for industrial operators. Read-only on the plant floor.</a:t>
            </a:r>
          </a:p>
          <a:p>
            <a:pPr algn="l"/>
            <a:r>
              <a:rPr sz="1800" b="0">
                <a:solidFill>
                  <a:srgbClr val="CDD5E0"/>
                </a:solidFill>
                <a:latin typeface="Calibri"/>
              </a:rPr>
              <a:t>Outbound-only on the network. Tenant-isolated end-to-end.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580000"/>
            <a:ext cx="10752119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3B3"/>
                </a:solidFill>
                <a:latin typeface="Calibri"/>
              </a:rPr>
              <a:t>Audience: Plant Managers · IT Security · OT Engineering · Compliance</a:t>
            </a:r>
          </a:p>
          <a:p>
            <a:pPr algn="l"/>
            <a:r>
              <a:rPr sz="1200" b="0">
                <a:solidFill>
                  <a:srgbClr val="9AA3B3"/>
                </a:solidFill>
                <a:latin typeface="Calibri"/>
              </a:rPr>
              <a:t>Document version: 2026-05-15 (rev. 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112119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problem we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062000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473"/>
                </a:solidFill>
                <a:latin typeface="Calibri"/>
              </a:rPr>
              <a:t>Industrial customers want their data — without changing the plant.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655999"/>
            <a:ext cx="10752119" cy="2880000"/>
          </a:xfrm>
          <a:prstGeom prst="rect">
            <a:avLst/>
          </a:prstGeom>
          <a:noFill/>
        </p:spPr>
        <p:txBody>
          <a:bodyPr wrap="square" anchor="t" l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B8A6"/>
                </a:solidFill>
                <a:latin typeface="Calibri"/>
              </a:rPr>
              <a:t>•  </a:t>
            </a:r>
            <a:r>
              <a:rPr sz="2000">
                <a:solidFill>
                  <a:srgbClr val="0E1116"/>
                </a:solidFill>
                <a:latin typeface="Calibri"/>
              </a:rPr>
              <a:t>Plants generate enormous amounts of data, locked inside PLCs and meters.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4B8A6"/>
                </a:solidFill>
                <a:latin typeface="Calibri"/>
              </a:rPr>
              <a:t>•  </a:t>
            </a:r>
            <a:r>
              <a:rPr sz="2000">
                <a:solidFill>
                  <a:srgbClr val="0E1116"/>
                </a:solidFill>
                <a:latin typeface="Calibri"/>
              </a:rPr>
              <a:t>Most monitoring tools require writing back to the PLC or opening inbound ports — neither is acceptable.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4B8A6"/>
                </a:solidFill>
                <a:latin typeface="Calibri"/>
              </a:rPr>
              <a:t>•  </a:t>
            </a:r>
            <a:r>
              <a:rPr sz="2000">
                <a:solidFill>
                  <a:srgbClr val="0E1116"/>
                </a:solidFill>
                <a:latin typeface="Calibri"/>
              </a:rPr>
              <a:t>IT teams must protect the corporate network from anything talking to the plant floor.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4B8A6"/>
                </a:solidFill>
                <a:latin typeface="Calibri"/>
              </a:rPr>
              <a:t>•  </a:t>
            </a:r>
            <a:r>
              <a:rPr sz="2000">
                <a:solidFill>
                  <a:srgbClr val="0E1116"/>
                </a:solidFill>
                <a:latin typeface="Calibri"/>
              </a:rPr>
              <a:t>OT teams must protect production from anything that might disturb control logic.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4B8A6"/>
                </a:solidFill>
                <a:latin typeface="Calibri"/>
              </a:rPr>
              <a:t>•  </a:t>
            </a:r>
            <a:r>
              <a:rPr sz="2000">
                <a:solidFill>
                  <a:srgbClr val="0E1116"/>
                </a:solidFill>
                <a:latin typeface="Calibri"/>
              </a:rPr>
              <a:t>Compliance teams need an audit trail, tenant isolation, and a story for IEC 62443 / NIS2.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70000"/>
            <a:ext cx="12192119" cy="14400"/>
          </a:xfrm>
          <a:prstGeom prst="rect">
            <a:avLst/>
          </a:prstGeom>
          <a:solidFill>
            <a:srgbClr val="D7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660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3"/>
                </a:solidFill>
                <a:latin typeface="Calibri"/>
              </a:rPr>
              <a:t>TrustNode Edge — Security &amp;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52119" y="6606000"/>
            <a:ext cx="8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Calibri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112119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What TrustNode is, 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062000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473"/>
                </a:solidFill>
                <a:latin typeface="Calibri"/>
              </a:rPr>
              <a:t>A read-only industrial data gateway with a cloud portal that never reaches back.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6000" y="1944000"/>
            <a:ext cx="10320119" cy="2700000"/>
          </a:xfrm>
          <a:prstGeom prst="rect">
            <a:avLst/>
          </a:prstGeom>
          <a:solidFill>
            <a:srgbClr val="F4F6FA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6000" y="1944000"/>
            <a:ext cx="108000" cy="2700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6000" y="2232000"/>
            <a:ext cx="9528119" cy="19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0E1A3A"/>
                </a:solidFill>
                <a:latin typeface="Calibri"/>
              </a:rPr>
              <a:t>PLC  →  Edge  →  Cloud  →  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6000" y="3816000"/>
            <a:ext cx="9528119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6473"/>
                </a:solidFill>
                <a:latin typeface="Calibri"/>
              </a:rPr>
              <a:t>Always that direction. The cloud cannot reach the edge.</a:t>
            </a:r>
          </a:p>
          <a:p>
            <a:pPr algn="ctr"/>
            <a:r>
              <a:rPr sz="1800" b="0">
                <a:solidFill>
                  <a:srgbClr val="5B6473"/>
                </a:solidFill>
                <a:latin typeface="Calibri"/>
              </a:rPr>
              <a:t>The browser cannot reach the PLC.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70000"/>
            <a:ext cx="12192119" cy="14400"/>
          </a:xfrm>
          <a:prstGeom prst="rect">
            <a:avLst/>
          </a:prstGeom>
          <a:solidFill>
            <a:srgbClr val="D7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660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3"/>
                </a:solidFill>
                <a:latin typeface="Calibri"/>
              </a:rPr>
              <a:t>TrustNode Edge — Security &amp;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52119" y="6606000"/>
            <a:ext cx="8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Calibri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112119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Single-customer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062000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473"/>
                </a:solidFill>
                <a:latin typeface="Calibri"/>
              </a:rPr>
              <a:t>Plant floor → edge → cloud → browsers. Only outbound HTTPS crosses the boundary.</a:t>
            </a:r>
          </a:p>
        </p:txBody>
      </p:sp>
      <p:pic>
        <p:nvPicPr>
          <p:cNvPr id="6" name="Picture 5" descr="architecture_single_custo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512000"/>
            <a:ext cx="11040119" cy="475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70000"/>
            <a:ext cx="12192119" cy="14400"/>
          </a:xfrm>
          <a:prstGeom prst="rect">
            <a:avLst/>
          </a:prstGeom>
          <a:solidFill>
            <a:srgbClr val="D7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660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3"/>
                </a:solidFill>
                <a:latin typeface="Calibri"/>
              </a:rPr>
              <a:t>TrustNode Edge — Security &amp;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52119" y="6606000"/>
            <a:ext cx="8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Calibr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112119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Purdue model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062000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473"/>
                </a:solidFill>
                <a:latin typeface="Calibri"/>
              </a:rPr>
              <a:t>Where TrustNode sits inside the industry's reference picture of plant networks.</a:t>
            </a:r>
          </a:p>
        </p:txBody>
      </p:sp>
      <p:pic>
        <p:nvPicPr>
          <p:cNvPr id="6" name="Picture 5" descr="architecture_purd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512000"/>
            <a:ext cx="11040119" cy="475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70000"/>
            <a:ext cx="12192119" cy="14400"/>
          </a:xfrm>
          <a:prstGeom prst="rect">
            <a:avLst/>
          </a:prstGeom>
          <a:solidFill>
            <a:srgbClr val="D7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660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3"/>
                </a:solidFill>
                <a:latin typeface="Calibri"/>
              </a:rPr>
              <a:t>TrustNode Edge — Security &amp;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52119" y="6606000"/>
            <a:ext cx="8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Calibri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112119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Read-only on the plant floor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062000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473"/>
                </a:solidFill>
                <a:latin typeface="Calibri"/>
              </a:rPr>
              <a:t>Four industrial protocols. Zero write code paths.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655999"/>
            <a:ext cx="5400000" cy="20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00" y="1655999"/>
            <a:ext cx="5400000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1799999"/>
            <a:ext cx="50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E1A3A"/>
                </a:solidFill>
                <a:latin typeface="Calibri"/>
              </a:rPr>
              <a:t>OPC UA  (IEC 62541)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303999"/>
            <a:ext cx="5040000" cy="14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E1116"/>
                </a:solidFill>
                <a:latin typeface="Calibri"/>
              </a:rPr>
              <a:t>Vendor-neutral standard. Siemens, Beckhoff, generic OPC servers.</a:t>
            </a:r>
          </a:p>
          <a:p>
            <a:pPr algn="l"/>
            <a:r>
              <a:rPr sz="1400" b="0">
                <a:solidFill>
                  <a:srgbClr val="0E1116"/>
                </a:solidFill>
                <a:latin typeface="Calibri"/>
              </a:rPr>
              <a:t>Read-only tag access; server's auth &amp; encryption respected.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2000" y="1655999"/>
            <a:ext cx="5400000" cy="20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2000" y="1655999"/>
            <a:ext cx="5400000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8000" y="1799999"/>
            <a:ext cx="50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E1A3A"/>
                </a:solidFill>
                <a:latin typeface="Calibri"/>
              </a:rPr>
              <a:t>Siemens S7 (Snap7)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8000" y="2303999"/>
            <a:ext cx="5040000" cy="14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E1116"/>
                </a:solidFill>
                <a:latin typeface="Calibri"/>
              </a:rPr>
              <a:t>Native S7-300/400/1200/1500. Read-only DB/M/I/Q access.</a:t>
            </a:r>
          </a:p>
          <a:p>
            <a:pPr algn="l"/>
            <a:r>
              <a:rPr sz="1400" b="0">
                <a:solidFill>
                  <a:srgbClr val="0E1116"/>
                </a:solidFill>
                <a:latin typeface="Calibri"/>
              </a:rPr>
              <a:t>PLC's own ACL still applies.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00" y="3960000"/>
            <a:ext cx="5400000" cy="20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00" y="3960000"/>
            <a:ext cx="5400000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000" y="4104000"/>
            <a:ext cx="50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E1A3A"/>
                </a:solidFill>
                <a:latin typeface="Calibri"/>
              </a:rPr>
              <a:t>Allen-Bradley (EtherNet/IP)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" y="4608000"/>
            <a:ext cx="5040000" cy="14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E1116"/>
                </a:solidFill>
                <a:latin typeface="Calibri"/>
              </a:rPr>
              <a:t>CompactLogix / ControlLogix via pycomm3 / pylogix.</a:t>
            </a:r>
          </a:p>
          <a:p>
            <a:pPr algn="l"/>
            <a:r>
              <a:rPr sz="1400" b="0">
                <a:solidFill>
                  <a:srgbClr val="0E1116"/>
                </a:solidFill>
                <a:latin typeface="Calibri"/>
              </a:rPr>
              <a:t>Read-only. No write_tag bindings anywhere.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2000" y="3960000"/>
            <a:ext cx="5400000" cy="20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2000" y="3960000"/>
            <a:ext cx="5400000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8000" y="4104000"/>
            <a:ext cx="50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E1A3A"/>
                </a:solidFill>
                <a:latin typeface="Calibri"/>
              </a:rPr>
              <a:t>Modbus TCP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8000" y="4608000"/>
            <a:ext cx="5040000" cy="14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E1116"/>
                </a:solidFill>
                <a:latin typeface="Calibri"/>
              </a:rPr>
              <a:t>Universal protocol for power meters, VFDs, sensors.</a:t>
            </a:r>
          </a:p>
          <a:p>
            <a:pPr algn="l"/>
            <a:r>
              <a:rPr sz="1400" b="0">
                <a:solidFill>
                  <a:srgbClr val="0E1116"/>
                </a:solidFill>
                <a:latin typeface="Calibri"/>
              </a:rPr>
              <a:t>Reads only holding &amp; input registers.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70000"/>
            <a:ext cx="12192119" cy="14400"/>
          </a:xfrm>
          <a:prstGeom prst="rect">
            <a:avLst/>
          </a:prstGeom>
          <a:solidFill>
            <a:srgbClr val="D7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00" y="660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3"/>
                </a:solidFill>
                <a:latin typeface="Calibri"/>
              </a:rPr>
              <a:t>TrustNode Edge — Security &amp;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52119" y="6606000"/>
            <a:ext cx="8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Calibr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112119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Outbound-only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062000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473"/>
                </a:solidFill>
                <a:latin typeface="Calibri"/>
              </a:rPr>
              <a:t>No inbound port on the edge, no inbound from cloud to plant.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655999"/>
            <a:ext cx="5544000" cy="4680000"/>
          </a:xfrm>
          <a:prstGeom prst="rect">
            <a:avLst/>
          </a:prstGeom>
          <a:noFill/>
        </p:spPr>
        <p:txBody>
          <a:bodyPr wrap="square" anchor="t" l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B8A6"/>
                </a:solidFill>
                <a:latin typeface="Calibri"/>
              </a:rPr>
              <a:t>•  </a:t>
            </a:r>
            <a:r>
              <a:rPr sz="1800">
                <a:solidFill>
                  <a:srgbClr val="0E1116"/>
                </a:solidFill>
                <a:latin typeface="Calibri"/>
              </a:rPr>
              <a:t>Edge dials out to cloud over HTTPS / TCP 443.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4B8A6"/>
                </a:solidFill>
                <a:latin typeface="Calibri"/>
              </a:rPr>
              <a:t>•  </a:t>
            </a:r>
            <a:r>
              <a:rPr sz="1800">
                <a:solidFill>
                  <a:srgbClr val="0E1116"/>
                </a:solidFill>
                <a:latin typeface="Calibri"/>
              </a:rPr>
              <a:t>Same direction as a web browser fetching a page.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4B8A6"/>
                </a:solidFill>
                <a:latin typeface="Calibri"/>
              </a:rPr>
              <a:t>•  </a:t>
            </a:r>
            <a:r>
              <a:rPr sz="1800">
                <a:solidFill>
                  <a:srgbClr val="0E1116"/>
                </a:solidFill>
                <a:latin typeface="Calibri"/>
              </a:rPr>
              <a:t>No NAT rule, no port forwarding, no listener exposed.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4B8A6"/>
                </a:solidFill>
                <a:latin typeface="Calibri"/>
              </a:rPr>
              <a:t>•  </a:t>
            </a:r>
            <a:r>
              <a:rPr sz="1800">
                <a:solidFill>
                  <a:srgbClr val="0E1116"/>
                </a:solidFill>
                <a:latin typeface="Calibri"/>
              </a:rPr>
              <a:t>Cloud VPS exposes only TCP/443 through nginx.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4B8A6"/>
                </a:solidFill>
                <a:latin typeface="Calibri"/>
              </a:rPr>
              <a:t>•  </a:t>
            </a:r>
            <a:r>
              <a:rPr sz="1800">
                <a:solidFill>
                  <a:srgbClr val="0E1116"/>
                </a:solidFill>
                <a:latin typeface="Calibri"/>
              </a:rPr>
              <a:t>FastAPI backend binds 127.0.0.1 — only reachable via nginx.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4B8A6"/>
                </a:solidFill>
                <a:latin typeface="Calibri"/>
              </a:rPr>
              <a:t>•  </a:t>
            </a:r>
            <a:r>
              <a:rPr sz="1800">
                <a:solidFill>
                  <a:srgbClr val="0E1116"/>
                </a:solidFill>
                <a:latin typeface="Calibri"/>
              </a:rPr>
              <a:t>No SSH server, no RDP listener, no reverse tunnel on edge.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80000" y="1655999"/>
            <a:ext cx="4968000" cy="4680000"/>
          </a:xfrm>
          <a:prstGeom prst="rect">
            <a:avLst/>
          </a:prstGeom>
          <a:solidFill>
            <a:srgbClr val="F4F6FA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80000" y="1655999"/>
            <a:ext cx="108000" cy="4680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6000" y="1800000"/>
            <a:ext cx="460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6000" y="2304000"/>
            <a:ext cx="4608000" cy="39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E1116"/>
                </a:solidFill>
                <a:latin typeface="Calibri"/>
              </a:rPr>
              <a:t>Two of the largest industrial-breach categories of the past decade were remote-desktop tools left exposed and SSH servers without strong keys.</a:t>
            </a:r>
          </a:p>
          <a:p>
            <a:pPr algn="l"/>
            <a:r>
              <a:rPr sz="1500" b="0">
                <a:solidFill>
                  <a:srgbClr val="0E1116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0E1116"/>
                </a:solidFill>
                <a:latin typeface="Calibri"/>
              </a:rPr>
              <a:t>TrustNode simply does not run either.</a:t>
            </a:r>
          </a:p>
          <a:p>
            <a:pPr algn="l"/>
            <a:r>
              <a:rPr sz="1500" b="0">
                <a:solidFill>
                  <a:srgbClr val="0E1116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0E1116"/>
                </a:solidFill>
                <a:latin typeface="Calibri"/>
              </a:rPr>
              <a:t>Your perimeter stays closed. If your firewall is healthy today, installing TrustNode does not change that.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70000"/>
            <a:ext cx="12192119" cy="14400"/>
          </a:xfrm>
          <a:prstGeom prst="rect">
            <a:avLst/>
          </a:prstGeom>
          <a:solidFill>
            <a:srgbClr val="D7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00" y="660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3"/>
                </a:solidFill>
                <a:latin typeface="Calibri"/>
              </a:rPr>
              <a:t>TrustNode Edge — Security &amp;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52119" y="6606000"/>
            <a:ext cx="8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Calibr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112119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Three login roles, enforced server-side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062000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473"/>
                </a:solidFill>
                <a:latin typeface="Calibri"/>
              </a:rPr>
              <a:t>Same login endpoint, three very different views.</a:t>
            </a:r>
          </a:p>
        </p:txBody>
      </p:sp>
      <p:pic>
        <p:nvPicPr>
          <p:cNvPr id="6" name="Picture 5" descr="architecture_three_r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512000"/>
            <a:ext cx="11040119" cy="475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70000"/>
            <a:ext cx="12192119" cy="14400"/>
          </a:xfrm>
          <a:prstGeom prst="rect">
            <a:avLst/>
          </a:prstGeom>
          <a:solidFill>
            <a:srgbClr val="D7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660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3"/>
                </a:solidFill>
                <a:latin typeface="Calibri"/>
              </a:rPr>
              <a:t>TrustNode Edge — Security &amp;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52119" y="6606000"/>
            <a:ext cx="8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Calibr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112119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Multi-tenant isolation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062000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473"/>
                </a:solidFill>
                <a:latin typeface="Calibri"/>
              </a:rPr>
              <a:t>One VPS, many customers, zero cross-tenant data.</a:t>
            </a:r>
          </a:p>
        </p:txBody>
      </p:sp>
      <p:pic>
        <p:nvPicPr>
          <p:cNvPr id="6" name="Picture 5" descr="architecture_multi_ten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512000"/>
            <a:ext cx="11040119" cy="475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70000"/>
            <a:ext cx="12192119" cy="14400"/>
          </a:xfrm>
          <a:prstGeom prst="rect">
            <a:avLst/>
          </a:prstGeom>
          <a:solidFill>
            <a:srgbClr val="D7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660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3"/>
                </a:solidFill>
                <a:latin typeface="Calibri"/>
              </a:rPr>
              <a:t>TrustNode Edge — Security &amp;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52119" y="6606000"/>
            <a:ext cx="8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Calibri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112119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Authentication &amp; data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062000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473"/>
                </a:solidFill>
                <a:latin typeface="Calibri"/>
              </a:rPr>
              <a:t>Industry-standard cryptography, plain to explain to your CISO.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655999"/>
            <a:ext cx="5400000" cy="46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00" y="1655999"/>
            <a:ext cx="5400000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1764000"/>
            <a:ext cx="504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E1A3A"/>
                </a:solidFill>
                <a:latin typeface="Calibri"/>
              </a:rP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196000"/>
            <a:ext cx="5040000" cy="3960000"/>
          </a:xfrm>
          <a:prstGeom prst="rect">
            <a:avLst/>
          </a:prstGeom>
          <a:noFill/>
        </p:spPr>
        <p:txBody>
          <a:bodyPr wrap="square" anchor="t" l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•  </a:t>
            </a:r>
            <a:r>
              <a:rPr sz="1400">
                <a:solidFill>
                  <a:srgbClr val="0E1116"/>
                </a:solidFill>
                <a:latin typeface="Calibri"/>
              </a:rPr>
              <a:t>JWT (RFC 7519) with HS256 signatures.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•  </a:t>
            </a:r>
            <a:r>
              <a:rPr sz="1400">
                <a:solidFill>
                  <a:srgbClr val="0E1116"/>
                </a:solidFill>
                <a:latin typeface="Calibri"/>
              </a:rPr>
              <a:t>12-hour token lifetime; no refresh tokens.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•  </a:t>
            </a:r>
            <a:r>
              <a:rPr sz="1400">
                <a:solidFill>
                  <a:srgbClr val="0E1116"/>
                </a:solidFill>
                <a:latin typeface="Calibri"/>
              </a:rPr>
              <a:t>Passwords stored as PBKDF2-HMAC-SHA256, 120,000 iterations.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•  </a:t>
            </a:r>
            <a:r>
              <a:rPr sz="1400">
                <a:solidFill>
                  <a:srgbClr val="0E1116"/>
                </a:solidFill>
                <a:latin typeface="Calibri"/>
              </a:rPr>
              <a:t>Per-user salt; no plaintext ever logged or persisted.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•  </a:t>
            </a:r>
            <a:r>
              <a:rPr sz="1400">
                <a:solidFill>
                  <a:srgbClr val="0E1116"/>
                </a:solidFill>
                <a:latin typeface="Calibri"/>
              </a:rPr>
              <a:t>Three roles: master / customer-admin / client viewer.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•  </a:t>
            </a:r>
            <a:r>
              <a:rPr sz="1400">
                <a:solidFill>
                  <a:srgbClr val="0E1116"/>
                </a:solidFill>
                <a:latin typeface="Calibri"/>
              </a:rPr>
              <a:t>Every API call re-validates the JWT.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2000" y="1655999"/>
            <a:ext cx="5400000" cy="46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2000" y="1655999"/>
            <a:ext cx="5400000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8000" y="1764000"/>
            <a:ext cx="504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E1A3A"/>
                </a:solidFill>
                <a:latin typeface="Calibri"/>
              </a:rPr>
              <a:t>Data protection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8000" y="2196000"/>
            <a:ext cx="5040000" cy="3960000"/>
          </a:xfrm>
          <a:prstGeom prst="rect">
            <a:avLst/>
          </a:prstGeom>
          <a:noFill/>
        </p:spPr>
        <p:txBody>
          <a:bodyPr wrap="square" anchor="t" l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•  </a:t>
            </a:r>
            <a:r>
              <a:rPr sz="1400">
                <a:solidFill>
                  <a:srgbClr val="0E1116"/>
                </a:solidFill>
                <a:latin typeface="Calibri"/>
              </a:rPr>
              <a:t>TLS 1.2+ everywhere — browsers, edge↔cloud, DB↔backend.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•  </a:t>
            </a:r>
            <a:r>
              <a:rPr sz="1400">
                <a:solidFill>
                  <a:srgbClr val="0E1116"/>
                </a:solidFill>
                <a:latin typeface="Calibri"/>
              </a:rPr>
              <a:t>Postgres / Supabase: sslmode=require, provider encryption at rest.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•  </a:t>
            </a:r>
            <a:r>
              <a:rPr sz="1400">
                <a:solidFill>
                  <a:srgbClr val="0E1116"/>
                </a:solidFill>
                <a:latin typeface="Calibri"/>
              </a:rPr>
              <a:t>WSS auto-upgrade — mixed-content is structurally impossible.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•  </a:t>
            </a:r>
            <a:r>
              <a:rPr sz="1400">
                <a:solidFill>
                  <a:srgbClr val="0E1116"/>
                </a:solidFill>
                <a:latin typeface="Calibri"/>
              </a:rPr>
              <a:t>Edge SQLite on BitLocker / LUKS / FileVault for disk encryption.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•  </a:t>
            </a:r>
            <a:r>
              <a:rPr sz="1400">
                <a:solidFill>
                  <a:srgbClr val="0E1116"/>
                </a:solidFill>
                <a:latin typeface="Calibri"/>
              </a:rPr>
              <a:t>Activation codes: SHA-256 hashed, 30-min TTL, one-shot.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•  </a:t>
            </a:r>
            <a:r>
              <a:rPr sz="1400">
                <a:solidFill>
                  <a:srgbClr val="0E1116"/>
                </a:solidFill>
                <a:latin typeface="Calibri"/>
              </a:rPr>
              <a:t>Password reset tokens: hashed, 15-min TTL, one-shot.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70000"/>
            <a:ext cx="12192119" cy="14400"/>
          </a:xfrm>
          <a:prstGeom prst="rect">
            <a:avLst/>
          </a:prstGeom>
          <a:solidFill>
            <a:srgbClr val="D7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00" y="660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3"/>
                </a:solidFill>
                <a:latin typeface="Calibri"/>
              </a:rPr>
              <a:t>TrustNode Edge — Security &amp;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52119" y="6606000"/>
            <a:ext cx="8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Calibr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112119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Store-and-forward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062000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473"/>
                </a:solidFill>
                <a:latin typeface="Calibri"/>
              </a:rPr>
              <a:t>Cloud outages do not become plant-floor data gaps.</a:t>
            </a:r>
          </a:p>
        </p:txBody>
      </p:sp>
      <p:pic>
        <p:nvPicPr>
          <p:cNvPr id="6" name="Picture 5" descr="architecture_store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512000"/>
            <a:ext cx="11040119" cy="475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70000"/>
            <a:ext cx="12192119" cy="14400"/>
          </a:xfrm>
          <a:prstGeom prst="rect">
            <a:avLst/>
          </a:prstGeom>
          <a:solidFill>
            <a:srgbClr val="D7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660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3"/>
                </a:solidFill>
                <a:latin typeface="Calibri"/>
              </a:rPr>
              <a:t>TrustNode Edge — Security &amp;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52119" y="6606000"/>
            <a:ext cx="8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Calibr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112119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Deployment options —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062000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473"/>
                </a:solidFill>
                <a:latin typeface="Calibri"/>
              </a:rPr>
              <a:t>Same software, five common shapes. Pick what fits your IT/OT reality.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655999"/>
            <a:ext cx="11040119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00" y="1655999"/>
            <a:ext cx="64800" cy="864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727999"/>
            <a:ext cx="252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E1A3A"/>
                </a:solidFill>
                <a:latin typeface="Calibri"/>
              </a:rPr>
              <a:t>A — Plant 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00" y="1727999"/>
            <a:ext cx="468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E1116"/>
                </a:solidFill>
                <a:latin typeface="Calibri"/>
              </a:rPr>
              <a:t>Windows PC inside the plant. Local-only.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727999"/>
            <a:ext cx="3372119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473"/>
                </a:solidFill>
                <a:latin typeface="Calibri"/>
              </a:rPr>
              <a:t>Best for: Smallest sites, pilots, no cloud needed.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00" y="2628000"/>
            <a:ext cx="11040119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00" y="2628000"/>
            <a:ext cx="64800" cy="864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700000"/>
            <a:ext cx="252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E1A3A"/>
                </a:solidFill>
                <a:latin typeface="Calibri"/>
              </a:rPr>
              <a:t>B — IPC in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0000" y="2700000"/>
            <a:ext cx="468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E1116"/>
                </a:solidFill>
                <a:latin typeface="Calibri"/>
              </a:rPr>
              <a:t>Rugged DIN-rail PC in the electrical cabinet.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000" y="2700000"/>
            <a:ext cx="3372119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473"/>
                </a:solidFill>
                <a:latin typeface="Calibri"/>
              </a:rPr>
              <a:t>Best for: Machine builders, OEMs, no server room.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00" y="3600000"/>
            <a:ext cx="11040119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00" y="3600000"/>
            <a:ext cx="64800" cy="864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000" y="3672000"/>
            <a:ext cx="252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E1A3A"/>
                </a:solidFill>
                <a:latin typeface="Calibri"/>
              </a:rPr>
              <a:t>C — Customer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0000" y="3672000"/>
            <a:ext cx="468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E1116"/>
                </a:solidFill>
                <a:latin typeface="Calibri"/>
              </a:rPr>
              <a:t>Linux VM in the customer's datacenter.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000" y="3672000"/>
            <a:ext cx="3372119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473"/>
                </a:solidFill>
                <a:latin typeface="Calibri"/>
              </a:rPr>
              <a:t>Best for: Mid/large customers with their own 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00" y="4572000"/>
            <a:ext cx="11040119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00" y="4572000"/>
            <a:ext cx="64800" cy="864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000" y="4644000"/>
            <a:ext cx="252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E1A3A"/>
                </a:solidFill>
                <a:latin typeface="Calibri"/>
              </a:rPr>
              <a:t>D — Cloud-bridged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0000" y="4644000"/>
            <a:ext cx="468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E1116"/>
                </a:solidFill>
                <a:latin typeface="Calibri"/>
              </a:rPr>
              <a:t>Edge at plant + cloud portal. The default.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0000" y="4644000"/>
            <a:ext cx="3372119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473"/>
                </a:solidFill>
                <a:latin typeface="Calibri"/>
              </a:rPr>
              <a:t>Best for: Web access from anywhere; multi-site.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00" y="5544000"/>
            <a:ext cx="11040119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6000" y="5544000"/>
            <a:ext cx="64800" cy="864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000" y="5616000"/>
            <a:ext cx="252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E1A3A"/>
                </a:solidFill>
                <a:latin typeface="Calibri"/>
              </a:rPr>
              <a:t>E — Multi-plant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0000" y="5616000"/>
            <a:ext cx="468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E1116"/>
                </a:solidFill>
                <a:latin typeface="Calibri"/>
              </a:rPr>
              <a:t>Several plants pooled into one central historian.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0000" y="5616000"/>
            <a:ext cx="3372119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473"/>
                </a:solidFill>
                <a:latin typeface="Calibri"/>
              </a:rPr>
              <a:t>Best for: Multi-site enterprises, one source of truth.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70000"/>
            <a:ext cx="12192119" cy="14400"/>
          </a:xfrm>
          <a:prstGeom prst="rect">
            <a:avLst/>
          </a:prstGeom>
          <a:solidFill>
            <a:srgbClr val="D7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00" y="660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3"/>
                </a:solidFill>
                <a:latin typeface="Calibri"/>
              </a:rPr>
              <a:t>TrustNode Edge — Security &amp; 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52119" y="6606000"/>
            <a:ext cx="8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Calibr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112119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Deployment A — Plant PC / desktop install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062000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473"/>
                </a:solidFill>
                <a:latin typeface="Calibri"/>
              </a:rPr>
              <a:t>Simplest setup. TrustNode runs on a Windows PC inside the plant.</a:t>
            </a:r>
          </a:p>
        </p:txBody>
      </p:sp>
      <p:pic>
        <p:nvPicPr>
          <p:cNvPr id="6" name="Picture 5" descr="deployment_plant_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512000"/>
            <a:ext cx="7200000" cy="475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92000" y="1512000"/>
            <a:ext cx="3744000" cy="4752000"/>
          </a:xfrm>
          <a:prstGeom prst="rect">
            <a:avLst/>
          </a:prstGeom>
          <a:solidFill>
            <a:srgbClr val="F4F6FA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92000" y="1512000"/>
            <a:ext cx="72000" cy="4752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6000" y="1620000"/>
            <a:ext cx="3528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E1A3A"/>
                </a:solidFill>
                <a:latin typeface="Calibri"/>
              </a:rPr>
              <a:t>Plant PC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6000" y="2232000"/>
            <a:ext cx="3528000" cy="39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• Windows 10/11 PC inside the plant LAN.</a:t>
            </a:r>
          </a:p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• Local SQLite store, no cloud needed.</a:t>
            </a:r>
          </a:p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• Operator browser hits it on the LAN.</a:t>
            </a:r>
          </a:p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• 16 GB RAM / 256 GB SSD typical.</a:t>
            </a:r>
          </a:p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Air-gap friendly. Best for small standalone sites and pilots.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70000"/>
            <a:ext cx="12192119" cy="14400"/>
          </a:xfrm>
          <a:prstGeom prst="rect">
            <a:avLst/>
          </a:prstGeom>
          <a:solidFill>
            <a:srgbClr val="D7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00" y="660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3"/>
                </a:solidFill>
                <a:latin typeface="Calibri"/>
              </a:rPr>
              <a:t>TrustNode Edge — Security &amp;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52119" y="6606000"/>
            <a:ext cx="8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Calibr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112119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Deployment B — Industrial PC (IPC) in the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062000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473"/>
                </a:solidFill>
                <a:latin typeface="Calibri"/>
              </a:rPr>
              <a:t>Rugged DIN-rail PC, fanless, 24 VDC. Mounted next to the PLCs.</a:t>
            </a:r>
          </a:p>
        </p:txBody>
      </p:sp>
      <p:pic>
        <p:nvPicPr>
          <p:cNvPr id="6" name="Picture 5" descr="deployment_ipc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512000"/>
            <a:ext cx="7200000" cy="475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92000" y="1512000"/>
            <a:ext cx="3744000" cy="4752000"/>
          </a:xfrm>
          <a:prstGeom prst="rect">
            <a:avLst/>
          </a:prstGeom>
          <a:solidFill>
            <a:srgbClr val="F4F6FA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92000" y="1512000"/>
            <a:ext cx="72000" cy="4752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6000" y="1620000"/>
            <a:ext cx="3528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E1A3A"/>
                </a:solidFill>
                <a:latin typeface="Calibri"/>
              </a:rPr>
              <a:t>IPC in panel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6000" y="2232000"/>
            <a:ext cx="3528000" cy="39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• Fanless, DIN-rail, 24 VDC supply.</a:t>
            </a:r>
          </a:p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• 8–16 GB RAM, industrial SSD/SD.</a:t>
            </a:r>
          </a:p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• Common: Siemens IPC127E, B&amp;R APC910, Beckhoff CX, Advantech UNO.</a:t>
            </a:r>
          </a:p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• Optional cellular / VPN modem in same panel for cloud portal.</a:t>
            </a:r>
          </a:p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Best for machine builders shipping a turnkey 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70000"/>
            <a:ext cx="12192119" cy="14400"/>
          </a:xfrm>
          <a:prstGeom prst="rect">
            <a:avLst/>
          </a:prstGeom>
          <a:solidFill>
            <a:srgbClr val="D7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00" y="660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3"/>
                </a:solidFill>
                <a:latin typeface="Calibri"/>
              </a:rPr>
              <a:t>TrustNode Edge — Security &amp;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52119" y="6606000"/>
            <a:ext cx="8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Calibr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112119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Deployment C — Customer server in datacenter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062000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473"/>
                </a:solidFill>
                <a:latin typeface="Calibri"/>
              </a:rPr>
              <a:t>Linux VM or rack server. Often serves several plants from one box.</a:t>
            </a:r>
          </a:p>
        </p:txBody>
      </p:sp>
      <p:pic>
        <p:nvPicPr>
          <p:cNvPr id="6" name="Picture 5" descr="deployment_customer_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512000"/>
            <a:ext cx="7200000" cy="475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92000" y="1512000"/>
            <a:ext cx="3744000" cy="4752000"/>
          </a:xfrm>
          <a:prstGeom prst="rect">
            <a:avLst/>
          </a:prstGeom>
          <a:solidFill>
            <a:srgbClr val="F4F6FA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92000" y="1512000"/>
            <a:ext cx="72000" cy="4752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6000" y="1620000"/>
            <a:ext cx="3528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E1A3A"/>
                </a:solidFill>
                <a:latin typeface="Calibri"/>
              </a:rPr>
              <a:t>Customer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6000" y="2232000"/>
            <a:ext cx="3528000" cy="39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• 4 vCPU / 8 GB RAM (start), Ubuntu / RHEL / Debian.</a:t>
            </a:r>
          </a:p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• Reaches each plant's PLCs over the customer's WAN/VPN.</a:t>
            </a:r>
          </a:p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• Writes into the customer's own PostgreSQL.</a:t>
            </a:r>
          </a:p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• Customer's IT runs backups, monitoring, HA.</a:t>
            </a:r>
          </a:p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Best for mid/large customers with internal IT and on-prem policy.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70000"/>
            <a:ext cx="12192119" cy="14400"/>
          </a:xfrm>
          <a:prstGeom prst="rect">
            <a:avLst/>
          </a:prstGeom>
          <a:solidFill>
            <a:srgbClr val="D7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00" y="660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3"/>
                </a:solidFill>
                <a:latin typeface="Calibri"/>
              </a:rPr>
              <a:t>TrustNode Edge — Security &amp;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52119" y="6606000"/>
            <a:ext cx="8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Calibr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112119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Deployment D — Cloud-bridged (the default)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062000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473"/>
                </a:solidFill>
                <a:latin typeface="Calibri"/>
              </a:rPr>
              <a:t>Edge in the plant + cloud portal. Web access from anywhere.</a:t>
            </a:r>
          </a:p>
        </p:txBody>
      </p:sp>
      <p:pic>
        <p:nvPicPr>
          <p:cNvPr id="6" name="Picture 5" descr="deployment_cloud_bridg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512000"/>
            <a:ext cx="7200000" cy="475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92000" y="1512000"/>
            <a:ext cx="3744000" cy="4752000"/>
          </a:xfrm>
          <a:prstGeom prst="rect">
            <a:avLst/>
          </a:prstGeom>
          <a:solidFill>
            <a:srgbClr val="F4F6FA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92000" y="1512000"/>
            <a:ext cx="72000" cy="4752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6000" y="1620000"/>
            <a:ext cx="3528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E1A3A"/>
                </a:solidFill>
                <a:latin typeface="Calibri"/>
              </a:rPr>
              <a:t>Cloud-bridged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6000" y="2232000"/>
            <a:ext cx="3528000" cy="39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• Edge can be PC, IPC, or VM (A/B/C).</a:t>
            </a:r>
          </a:p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• Outbound HTTPS to a cloud VPS — ours or yours.</a:t>
            </a:r>
          </a:p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• Cloud handles dashboards, multi-tenant portal, audit log.</a:t>
            </a:r>
          </a:p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• Edge keeps SQLite buffer (store-and-forward).</a:t>
            </a:r>
          </a:p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Best when web access from anywhere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70000"/>
            <a:ext cx="12192119" cy="14400"/>
          </a:xfrm>
          <a:prstGeom prst="rect">
            <a:avLst/>
          </a:prstGeom>
          <a:solidFill>
            <a:srgbClr val="D7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00" y="660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3"/>
                </a:solidFill>
                <a:latin typeface="Calibri"/>
              </a:rPr>
              <a:t>TrustNode Edge — Security &amp;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52119" y="6606000"/>
            <a:ext cx="8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Calibr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112119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Deployment E — Multi-plant central historian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062000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473"/>
                </a:solidFill>
                <a:latin typeface="Calibri"/>
              </a:rPr>
              <a:t>Several plants, one customer, one central historian.</a:t>
            </a:r>
          </a:p>
        </p:txBody>
      </p:sp>
      <p:pic>
        <p:nvPicPr>
          <p:cNvPr id="6" name="Picture 5" descr="deployment_multi_pl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512000"/>
            <a:ext cx="7200000" cy="475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92000" y="1512000"/>
            <a:ext cx="3744000" cy="4752000"/>
          </a:xfrm>
          <a:prstGeom prst="rect">
            <a:avLst/>
          </a:prstGeom>
          <a:solidFill>
            <a:srgbClr val="F4F6FA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92000" y="1512000"/>
            <a:ext cx="72000" cy="4752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6000" y="1620000"/>
            <a:ext cx="3528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E1A3A"/>
                </a:solidFill>
                <a:latin typeface="Calibri"/>
              </a:rPr>
              <a:t>Multi-plant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6000" y="2232000"/>
            <a:ext cx="3528000" cy="39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• One edge per plant; one central server (on-prem or cloud).</a:t>
            </a:r>
          </a:p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• tenant_id = customer; edge_id distinguishes plants.</a:t>
            </a:r>
          </a:p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• All plants visible in one portal, filterable per plant.</a:t>
            </a:r>
          </a:p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• PostgreSQL on customer infra OR managed cloud DB.</a:t>
            </a:r>
          </a:p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Best for multi-site enterprises wanting one source of truth.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70000"/>
            <a:ext cx="12192119" cy="14400"/>
          </a:xfrm>
          <a:prstGeom prst="rect">
            <a:avLst/>
          </a:prstGeom>
          <a:solidFill>
            <a:srgbClr val="D7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00" y="660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3"/>
                </a:solidFill>
                <a:latin typeface="Calibri"/>
              </a:rPr>
              <a:t>TrustNode Edge — Security &amp;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52119" y="6606000"/>
            <a:ext cx="8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Calibr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112119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Storage options — where the data physically lives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062000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473"/>
                </a:solidFill>
                <a:latin typeface="Calibri"/>
              </a:rPr>
              <a:t>Five options, pick what fits IT policy and budget.</a:t>
            </a:r>
          </a:p>
        </p:txBody>
      </p:sp>
      <p:pic>
        <p:nvPicPr>
          <p:cNvPr id="6" name="Picture 5" descr="storage_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512000"/>
            <a:ext cx="11040119" cy="475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70000"/>
            <a:ext cx="12192119" cy="14400"/>
          </a:xfrm>
          <a:prstGeom prst="rect">
            <a:avLst/>
          </a:prstGeom>
          <a:solidFill>
            <a:srgbClr val="D7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660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3"/>
                </a:solidFill>
                <a:latin typeface="Calibri"/>
              </a:rPr>
              <a:t>TrustNode Edge — Security &amp;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52119" y="6606000"/>
            <a:ext cx="8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Calibr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112119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Networking prerequisites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062000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473"/>
                </a:solidFill>
                <a:latin typeface="Calibri"/>
              </a:rPr>
              <a:t>The checklist your IT and OT teams can run through together.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655999"/>
            <a:ext cx="5400000" cy="46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00" y="1655999"/>
            <a:ext cx="5400000" cy="64800"/>
          </a:xfrm>
          <a:prstGeom prst="rect">
            <a:avLst/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1764000"/>
            <a:ext cx="504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E1A3A"/>
                </a:solidFill>
                <a:latin typeface="Calibri"/>
              </a:rPr>
              <a:t>TrustNode MUST 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196000"/>
            <a:ext cx="5040000" cy="3960000"/>
          </a:xfrm>
          <a:prstGeom prst="rect">
            <a:avLst/>
          </a:prstGeom>
          <a:noFill/>
        </p:spPr>
        <p:txBody>
          <a:bodyPr wrap="square" anchor="t" l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•  </a:t>
            </a:r>
            <a:r>
              <a:rPr sz="1300">
                <a:solidFill>
                  <a:srgbClr val="0E1116"/>
                </a:solidFill>
                <a:latin typeface="Calibri"/>
              </a:rPr>
              <a:t>PLCs at configured IPs (typical ports: 502 Modbus, 4840 OPC UA, 102 S7, 44818 EtherNet/IP).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•  </a:t>
            </a:r>
            <a:r>
              <a:rPr sz="1300">
                <a:solidFill>
                  <a:srgbClr val="0E1116"/>
                </a:solidFill>
                <a:latin typeface="Calibri"/>
              </a:rPr>
              <a:t>DNS resolution (or use IPs).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•  </a:t>
            </a:r>
            <a:r>
              <a:rPr sz="1300">
                <a:solidFill>
                  <a:srgbClr val="0E1116"/>
                </a:solidFill>
                <a:latin typeface="Calibri"/>
              </a:rPr>
              <a:t>NTP for time sync — historian only useful if timestamps are correct.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•  </a:t>
            </a:r>
            <a:r>
              <a:rPr sz="1300">
                <a:solidFill>
                  <a:srgbClr val="0E1116"/>
                </a:solidFill>
                <a:latin typeface="Calibri"/>
              </a:rPr>
              <a:t>Outbound HTTPS/443 to cloud (cloud-bridged topologies only).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•  </a:t>
            </a:r>
            <a:r>
              <a:rPr sz="1300">
                <a:solidFill>
                  <a:srgbClr val="0E1116"/>
                </a:solidFill>
                <a:latin typeface="Calibri"/>
              </a:rPr>
              <a:t>Customer's proxy / custom CA bundle if enforced.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2000" y="1655999"/>
            <a:ext cx="5400000" cy="46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2000" y="1655999"/>
            <a:ext cx="5400000" cy="64800"/>
          </a:xfrm>
          <a:prstGeom prst="rect">
            <a:avLst/>
          </a:prstGeom>
          <a:solidFill>
            <a:srgbClr val="C25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8000" y="1764000"/>
            <a:ext cx="504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E1A3A"/>
                </a:solidFill>
                <a:latin typeface="Calibri"/>
              </a:rPr>
              <a:t>TrustNode does NOT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8000" y="2196000"/>
            <a:ext cx="5040000" cy="3960000"/>
          </a:xfrm>
          <a:prstGeom prst="rect">
            <a:avLst/>
          </a:prstGeom>
          <a:noFill/>
        </p:spPr>
        <p:txBody>
          <a:bodyPr wrap="square" anchor="t" l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25B35"/>
                </a:solidFill>
                <a:latin typeface="Calibri"/>
              </a:rPr>
              <a:t>•  </a:t>
            </a:r>
            <a:r>
              <a:rPr sz="1300">
                <a:solidFill>
                  <a:srgbClr val="0E1116"/>
                </a:solidFill>
                <a:latin typeface="Calibri"/>
              </a:rPr>
              <a:t>Inbound ports on the edge — none.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25B35"/>
                </a:solidFill>
                <a:latin typeface="Calibri"/>
              </a:rPr>
              <a:t>•  </a:t>
            </a:r>
            <a:r>
              <a:rPr sz="1300">
                <a:solidFill>
                  <a:srgbClr val="0E1116"/>
                </a:solidFill>
                <a:latin typeface="Calibri"/>
              </a:rPr>
              <a:t>Internet access from the PLCs themselves.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25B35"/>
                </a:solidFill>
                <a:latin typeface="Calibri"/>
              </a:rPr>
              <a:t>•  </a:t>
            </a:r>
            <a:r>
              <a:rPr sz="1300">
                <a:solidFill>
                  <a:srgbClr val="0E1116"/>
                </a:solidFill>
                <a:latin typeface="Calibri"/>
              </a:rPr>
              <a:t>Open inbound firewall to the cloud.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25B35"/>
                </a:solidFill>
                <a:latin typeface="Calibri"/>
              </a:rPr>
              <a:t>•  </a:t>
            </a:r>
            <a:r>
              <a:rPr sz="1300">
                <a:solidFill>
                  <a:srgbClr val="0E1116"/>
                </a:solidFill>
                <a:latin typeface="Calibri"/>
              </a:rPr>
              <a:t>RDP / SSH / VNC servers on the edge.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25B35"/>
                </a:solidFill>
                <a:latin typeface="Calibri"/>
              </a:rPr>
              <a:t>•  </a:t>
            </a:r>
            <a:r>
              <a:rPr sz="1300">
                <a:solidFill>
                  <a:srgbClr val="0E1116"/>
                </a:solidFill>
                <a:latin typeface="Calibri"/>
              </a:rPr>
              <a:t>Domain admin or service-account privileges.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70000"/>
            <a:ext cx="12192119" cy="14400"/>
          </a:xfrm>
          <a:prstGeom prst="rect">
            <a:avLst/>
          </a:prstGeom>
          <a:solidFill>
            <a:srgbClr val="D7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00" y="660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3"/>
                </a:solidFill>
                <a:latin typeface="Calibri"/>
              </a:rPr>
              <a:t>TrustNode Edge — Security &amp;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52119" y="6606000"/>
            <a:ext cx="8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Calibr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112119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Backup &amp; redundancy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062000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473"/>
                </a:solidFill>
                <a:latin typeface="Calibri"/>
              </a:rPr>
              <a:t>Who runs the backups depends on which storage option you picked.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655999"/>
            <a:ext cx="11040119" cy="468000"/>
          </a:xfrm>
          <a:prstGeom prst="rect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745999"/>
            <a:ext cx="32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Storage 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745999"/>
            <a:ext cx="252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Backup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0000" y="1745999"/>
            <a:ext cx="4632119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Redundancy options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" y="2160000"/>
            <a:ext cx="11040119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214000"/>
            <a:ext cx="324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1A3A"/>
                </a:solidFill>
                <a:latin typeface="Calibri"/>
              </a:rPr>
              <a:t>Local SQLite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0" y="22140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Customer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0000" y="2214000"/>
            <a:ext cx="463211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E1116"/>
                </a:solidFill>
                <a:latin typeface="Calibri"/>
              </a:rPr>
              <a:t>Periodic file copy to NAS / external disk.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00" y="2700000"/>
            <a:ext cx="11040119" cy="503999"/>
          </a:xfrm>
          <a:prstGeom prst="rect">
            <a:avLst/>
          </a:prstGeom>
          <a:solidFill>
            <a:srgbClr val="F9FAFC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2754000"/>
            <a:ext cx="324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1A3A"/>
                </a:solidFill>
                <a:latin typeface="Calibri"/>
              </a:rPr>
              <a:t>Customer Postgres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0" y="27540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Customer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0000" y="2754000"/>
            <a:ext cx="463211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E1116"/>
                </a:solidFill>
                <a:latin typeface="Calibri"/>
              </a:rPr>
              <a:t>Postgres replication + customer's standard DB ops.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00" y="3240000"/>
            <a:ext cx="11040119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3294000"/>
            <a:ext cx="324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1A3A"/>
                </a:solidFill>
                <a:latin typeface="Calibri"/>
              </a:rPr>
              <a:t>Managed cloud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0" y="32940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Provider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0000" y="3294000"/>
            <a:ext cx="463211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E1116"/>
                </a:solidFill>
                <a:latin typeface="Calibri"/>
              </a:rPr>
              <a:t>Daily backups, point-in-time restore, multi-AZ replicas.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00" y="3780000"/>
            <a:ext cx="11040119" cy="503999"/>
          </a:xfrm>
          <a:prstGeom prst="rect">
            <a:avLst/>
          </a:prstGeom>
          <a:solidFill>
            <a:srgbClr val="F9FAFC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000" y="3834000"/>
            <a:ext cx="324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1A3A"/>
                </a:solidFill>
                <a:latin typeface="Calibri"/>
              </a:rPr>
              <a:t>Hybrid (edge + cloud)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00" y="38340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Both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0000" y="3834000"/>
            <a:ext cx="463211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E1116"/>
                </a:solidFill>
                <a:latin typeface="Calibri"/>
              </a:rPr>
              <a:t>Cloud backups + local SQLite is permanent backup-of-record.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00" y="4320000"/>
            <a:ext cx="11040119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000" y="4374000"/>
            <a:ext cx="324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1A3A"/>
                </a:solidFill>
                <a:latin typeface="Calibri"/>
              </a:rPr>
              <a:t>Other DB on 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000" y="43740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E1116"/>
                </a:solidFill>
                <a:latin typeface="Calibri"/>
              </a:rPr>
              <a:t>Varies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0000" y="4374000"/>
            <a:ext cx="463211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E1116"/>
                </a:solidFill>
                <a:latin typeface="Calibri"/>
              </a:rPr>
              <a:t>Whatever that DB engine offers natively.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00" y="5184000"/>
            <a:ext cx="11040119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D7A4F"/>
                </a:solidFill>
                <a:latin typeface="Calibri"/>
              </a:rPr>
              <a:t>Edge SQLite always retains a recent buffer regardless of long-term storage choice.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00" y="5616000"/>
            <a:ext cx="11040119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473"/>
                </a:solidFill>
                <a:latin typeface="Calibri"/>
              </a:rPr>
              <a:t>HA options on request: active-passive edge pair · load-balanced FastAPI · Postgres HA mode.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70000"/>
            <a:ext cx="12192119" cy="14400"/>
          </a:xfrm>
          <a:prstGeom prst="rect">
            <a:avLst/>
          </a:prstGeom>
          <a:solidFill>
            <a:srgbClr val="D7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00" y="660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3"/>
                </a:solidFill>
                <a:latin typeface="Calibri"/>
              </a:rPr>
              <a:t>TrustNode Edge — Security &amp;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52119" y="6606000"/>
            <a:ext cx="8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Calibr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112119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Compliance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062000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473"/>
                </a:solidFill>
                <a:latin typeface="Calibri"/>
              </a:rPr>
              <a:t>We are not certified; we provide the evidence package.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655999"/>
            <a:ext cx="5400000" cy="20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00" y="1655999"/>
            <a:ext cx="5400000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1799999"/>
            <a:ext cx="50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E1A3A"/>
                </a:solidFill>
                <a:latin typeface="Calibri"/>
              </a:rPr>
              <a:t>IEC 62443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303999"/>
            <a:ext cx="5040000" cy="14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E1116"/>
                </a:solidFill>
                <a:latin typeface="Calibri"/>
              </a:rPr>
              <a:t>International standard for industrial cybersecurity.</a:t>
            </a:r>
          </a:p>
          <a:p>
            <a:pPr algn="l"/>
            <a:r>
              <a:rPr sz="1400" b="0">
                <a:solidFill>
                  <a:srgbClr val="0E1116"/>
                </a:solidFill>
                <a:latin typeface="Calibri"/>
              </a:rPr>
              <a:t>Zone &amp; conduit (3-2), system security requirements (3-3).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2000" y="1655999"/>
            <a:ext cx="5400000" cy="20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2000" y="1655999"/>
            <a:ext cx="5400000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8000" y="1799999"/>
            <a:ext cx="50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E1A3A"/>
                </a:solidFill>
                <a:latin typeface="Calibri"/>
              </a:rPr>
              <a:t>NIS2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8000" y="2303999"/>
            <a:ext cx="5040000" cy="14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E1116"/>
                </a:solidFill>
                <a:latin typeface="Calibri"/>
              </a:rPr>
              <a:t>EU directive on critical-infrastructure cybersecurity.</a:t>
            </a:r>
          </a:p>
          <a:p>
            <a:pPr algn="l"/>
            <a:r>
              <a:rPr sz="1400" b="0">
                <a:solidFill>
                  <a:srgbClr val="0E1116"/>
                </a:solidFill>
                <a:latin typeface="Calibri"/>
              </a:rPr>
              <a:t>Risk management, incident handling, business continuity (Art. 21).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00" y="3960000"/>
            <a:ext cx="5400000" cy="20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00" y="3960000"/>
            <a:ext cx="5400000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000" y="4104000"/>
            <a:ext cx="50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E1A3A"/>
                </a:solidFill>
                <a:latin typeface="Calibri"/>
              </a:rPr>
              <a:t>ISO 27001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" y="4608000"/>
            <a:ext cx="5040000" cy="14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E1116"/>
                </a:solidFill>
                <a:latin typeface="Calibri"/>
              </a:rPr>
              <a:t>General information-security management standard.</a:t>
            </a:r>
          </a:p>
          <a:p>
            <a:pPr algn="l"/>
            <a:r>
              <a:rPr sz="1400" b="0">
                <a:solidFill>
                  <a:srgbClr val="0E1116"/>
                </a:solidFill>
                <a:latin typeface="Calibri"/>
              </a:rPr>
              <a:t>Annex A — access, cryptography, supply chain, logging.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2000" y="3960000"/>
            <a:ext cx="5400000" cy="20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2000" y="3960000"/>
            <a:ext cx="5400000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8000" y="4104000"/>
            <a:ext cx="50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E1A3A"/>
                </a:solidFill>
                <a:latin typeface="Calibri"/>
              </a:rPr>
              <a:t>Purdue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8000" y="4608000"/>
            <a:ext cx="5040000" cy="14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E1116"/>
                </a:solidFill>
                <a:latin typeface="Calibri"/>
              </a:rPr>
              <a:t>OT reference architecture for plant networks.</a:t>
            </a:r>
          </a:p>
          <a:p>
            <a:pPr algn="l"/>
            <a:r>
              <a:rPr sz="1400" b="0">
                <a:solidFill>
                  <a:srgbClr val="0E1116"/>
                </a:solidFill>
                <a:latin typeface="Calibri"/>
              </a:rPr>
              <a:t>TrustNode at L3 (Operations); cloud at L4–L5.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70000"/>
            <a:ext cx="12192119" cy="14400"/>
          </a:xfrm>
          <a:prstGeom prst="rect">
            <a:avLst/>
          </a:prstGeom>
          <a:solidFill>
            <a:srgbClr val="D7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00" y="660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3"/>
                </a:solidFill>
                <a:latin typeface="Calibri"/>
              </a:rPr>
              <a:t>TrustNode Edge — Security &amp;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52119" y="6606000"/>
            <a:ext cx="8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Calibr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64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112119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Why customers can trust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062000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473"/>
                </a:solidFill>
                <a:latin typeface="Calibri"/>
              </a:rPr>
              <a:t>Five reasons to keep on the prospect's notebook.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655999"/>
            <a:ext cx="11040119" cy="3960000"/>
          </a:xfrm>
          <a:prstGeom prst="rect">
            <a:avLst/>
          </a:prstGeom>
          <a:noFill/>
        </p:spPr>
        <p:txBody>
          <a:bodyPr wrap="square" anchor="t" l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B8A6"/>
                </a:solidFill>
                <a:latin typeface="Calibri"/>
              </a:rPr>
              <a:t>•  </a:t>
            </a:r>
            <a:r>
              <a:rPr sz="2000">
                <a:solidFill>
                  <a:srgbClr val="0E1116"/>
                </a:solidFill>
                <a:latin typeface="Calibri"/>
              </a:rPr>
              <a:t>Read-only on the plant floor. No PLC writes anywhere in the gateway code.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4B8A6"/>
                </a:solidFill>
                <a:latin typeface="Calibri"/>
              </a:rPr>
              <a:t>•  </a:t>
            </a:r>
            <a:r>
              <a:rPr sz="2000">
                <a:solidFill>
                  <a:srgbClr val="0E1116"/>
                </a:solidFill>
                <a:latin typeface="Calibri"/>
              </a:rPr>
              <a:t>Outbound-only on the network. Same direction as web traffic, no inbound to the edge.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4B8A6"/>
                </a:solidFill>
                <a:latin typeface="Calibri"/>
              </a:rPr>
              <a:t>•  </a:t>
            </a:r>
            <a:r>
              <a:rPr sz="2000">
                <a:solidFill>
                  <a:srgbClr val="0E1116"/>
                </a:solidFill>
                <a:latin typeface="Calibri"/>
              </a:rPr>
              <a:t>One customer cannot see another. 49+ automated checks per release verify this.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4B8A6"/>
                </a:solidFill>
                <a:latin typeface="Calibri"/>
              </a:rPr>
              <a:t>•  </a:t>
            </a:r>
            <a:r>
              <a:rPr sz="2000">
                <a:solidFill>
                  <a:srgbClr val="0E1116"/>
                </a:solidFill>
                <a:latin typeface="Calibri"/>
              </a:rPr>
              <a:t>Your data, your database. Five storage options. Migrate at any time.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4B8A6"/>
                </a:solidFill>
                <a:latin typeface="Calibri"/>
              </a:rPr>
              <a:t>•  </a:t>
            </a:r>
            <a:r>
              <a:rPr sz="2000">
                <a:solidFill>
                  <a:srgbClr val="0E1116"/>
                </a:solidFill>
                <a:latin typeface="Calibri"/>
              </a:rPr>
              <a:t>Continuous hardening. Audit log is append-only, dependencies are pinned, smokes run on every release.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5688000"/>
            <a:ext cx="11040119" cy="432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5706000"/>
            <a:ext cx="10752119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Questions? Walk us through the full whitepaper at docs/TRUSTNODE_SECURITY_AND_ARCHITECTURE_WHITEPAPER.md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0000"/>
            <a:ext cx="12192119" cy="14400"/>
          </a:xfrm>
          <a:prstGeom prst="rect">
            <a:avLst/>
          </a:prstGeom>
          <a:solidFill>
            <a:srgbClr val="D7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6606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473"/>
                </a:solidFill>
                <a:latin typeface="Calibri"/>
              </a:rPr>
              <a:t>TrustNode Edge — Security &amp;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52119" y="6606000"/>
            <a:ext cx="8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473"/>
                </a:solidFill>
                <a:latin typeface="Calibri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