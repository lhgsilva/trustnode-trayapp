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TrustNode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BEE7FF"/>
                </a:solidFill>
              </a:rPr>
              <a:t>Scalable Industrial Edge-to-Cloud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3017520"/>
            <a:ext cx="66751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Real-time PLC + meter telemetry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Secure multi-customer cloud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Low-cost, fast rollout, enterprise-ready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Why This Matters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Pitch Deck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356616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188720"/>
            <a:ext cx="323697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Plant challenge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Data is fragmented across OT systems and hard to access remotely.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566160" cy="7315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188720"/>
            <a:ext cx="323697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Business impact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Limited visibility delays decisions and increases downtime/energy waste.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05840"/>
            <a:ext cx="338328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188720"/>
            <a:ext cx="305409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Need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Secure real-time access with audit-grade data integrity.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09728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657600"/>
            <a:ext cx="10643616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TrustNode value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Single architecture for local edge operations and cloud client access, preserving exact telemetry provenance and enabling commercial multi-tenant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Solution At A Glance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Pitch Deck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E31"/>
                </a:solidFill>
              </a:defRPr>
            </a:pPr>
            <a:r>
              <a:t>Edge-first durability</a:t>
            </a:r>
          </a:p>
          <a:p>
            <a:pPr>
              <a:spcAft>
                <a:spcPts val="1000"/>
              </a:spcAft>
              <a:defRPr sz="2000">
                <a:solidFill>
                  <a:srgbClr val="121E31"/>
                </a:solidFill>
              </a:defRPr>
            </a:pPr>
            <a:r>
              <a:t>Outbox sync with retries</a:t>
            </a:r>
          </a:p>
          <a:p>
            <a:pPr>
              <a:spcAft>
                <a:spcPts val="1000"/>
              </a:spcAft>
              <a:defRPr sz="2000">
                <a:solidFill>
                  <a:srgbClr val="121E31"/>
                </a:solidFill>
              </a:defRPr>
            </a:pPr>
            <a:r>
              <a:t>Tenant-isolated cloud ingest</a:t>
            </a:r>
          </a:p>
          <a:p>
            <a:pPr>
              <a:spcAft>
                <a:spcPts val="1000"/>
              </a:spcAft>
              <a:defRPr sz="2000">
                <a:solidFill>
                  <a:srgbClr val="121E31"/>
                </a:solidFill>
              </a:defRPr>
            </a:pPr>
            <a:r>
              <a:t>Live dashboards from latest state</a:t>
            </a:r>
          </a:p>
          <a:p>
            <a:pPr>
              <a:spcAft>
                <a:spcPts val="1000"/>
              </a:spcAft>
              <a:defRPr sz="2000">
                <a:solidFill>
                  <a:srgbClr val="121E31"/>
                </a:solidFill>
              </a:defRPr>
            </a:pPr>
            <a:r>
              <a:t>Historian/reporting from immutable raw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303520" cy="7315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80160"/>
            <a:ext cx="4974336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Commercial-ready with minimal change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Keep current architecture, add control plane for customer onboarding, licensing, edge activation, and URL tenancy.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Target Architecture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Pitch Deck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" y="868680"/>
            <a:ext cx="1106424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E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ology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109728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Security and Data Isolation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Pitch Deck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" y="868680"/>
            <a:ext cx="110642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E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ology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1097280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43484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34840"/>
            <a:ext cx="35661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4617720"/>
            <a:ext cx="323697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OT safety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Outbound-only edge traffic. No inbound internet to 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43484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434840"/>
            <a:ext cx="3566160" cy="7315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4617720"/>
            <a:ext cx="323697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Tenant protection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Token scope + API checks + RLS for user-facing reads.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4348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4434840"/>
            <a:ext cx="33832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4617720"/>
            <a:ext cx="305409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Admin security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MFA + security audit log for privileged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Scalability Model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Pitch Deck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3566160" cy="7315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80160"/>
            <a:ext cx="323697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Tier A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Shared DB + RLS</a:t>
            </a:r>
            <a:br/>
            <a:r>
              <a:t>Lowest cost</a:t>
            </a:r>
            <a:br/>
            <a:r>
              <a:t>Default for SMB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356616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280160"/>
            <a:ext cx="323697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Tier B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Shared cluster + isolated schema</a:t>
            </a:r>
            <a:br/>
            <a:r>
              <a:t>Higher isolation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280160"/>
            <a:ext cx="314553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Tier C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Dedicated project/cluster</a:t>
            </a:r>
            <a:br/>
            <a:r>
              <a:t>Enterprise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10972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0972800" cy="7315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931920"/>
            <a:ext cx="1064361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Performance targets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Local UI &lt;= 1s, Cloud UI &lt;= 2s p95, deterministic outbox sync, full provenance for historian/reporting.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90-Day Rollout Plan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Pitch Deck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1005840"/>
            <a:ext cx="914400" cy="914400"/>
          </a:xfrm>
          <a:prstGeom prst="ellipse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3017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2848"/>
                </a:solidFill>
              </a:defRPr>
            </a:pPr>
            <a:r>
              <a:t>30 days</a:t>
            </a:r>
          </a:p>
          <a:p>
            <a:pPr>
              <a:defRPr sz="1400">
                <a:solidFill>
                  <a:srgbClr val="51637D"/>
                </a:solidFill>
              </a:defRPr>
            </a:pPr>
            <a:r>
              <a:t>Stabilize ingest bootstrap + diagnostics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97880" y="1005840"/>
            <a:ext cx="914400" cy="914400"/>
          </a:xfrm>
          <a:prstGeom prst="ellipse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48840"/>
            <a:ext cx="3017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2848"/>
                </a:solidFill>
              </a:defRPr>
            </a:pPr>
            <a:r>
              <a:t>60 days</a:t>
            </a:r>
          </a:p>
          <a:p>
            <a:pPr>
              <a:defRPr sz="1400">
                <a:solidFill>
                  <a:srgbClr val="51637D"/>
                </a:solidFill>
              </a:defRPr>
            </a:pPr>
            <a:r>
              <a:t>Control plane core + activation + licensing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38360" y="1005840"/>
            <a:ext cx="914400" cy="914400"/>
          </a:xfrm>
          <a:prstGeom prst="ellipse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3017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2848"/>
                </a:solidFill>
              </a:defRPr>
            </a:pPr>
            <a:r>
              <a:t>90 days</a:t>
            </a:r>
          </a:p>
          <a:p>
            <a:pPr>
              <a:defRPr sz="1400">
                <a:solidFill>
                  <a:srgbClr val="51637D"/>
                </a:solidFill>
              </a:defRPr>
            </a:pPr>
            <a:r>
              <a:t>Wildcard customer URLs + MFA + isolation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Commercial Packaging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Pitch Deck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394960" cy="7315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80160"/>
            <a:ext cx="506577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Core package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Edge collector + cloud client + dashboards + historian +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3035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280160"/>
            <a:ext cx="497433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Add-on modules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Power management, advanced analytics, AI advisory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53949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53949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474720"/>
            <a:ext cx="506577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Recurring value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Remote operations visibility, lower downtime, faster diagnostics, secure multi-site rollout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291840"/>
            <a:ext cx="530352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474720"/>
            <a:ext cx="49743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52848"/>
                </a:solidFill>
              </a:rPr>
              <a:t>Upsell path</a:t>
            </a:r>
          </a:p>
          <a:p>
            <a:pPr>
              <a:defRPr sz="1300">
                <a:solidFill>
                  <a:srgbClr val="51637D"/>
                </a:solidFill>
              </a:defRPr>
            </a:pPr>
            <a:r>
              <a:t>Isolation tiers, dedicated tenancy, compliance bundle, AI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Next Step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1440"/>
            <a:ext cx="36576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51637D"/>
                </a:solidFill>
              </a:rPr>
              <a:t>TrustNode - Investor/Demo Deck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Ready for Pilot-to-Scale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C1E4FF"/>
                </a:solidFill>
              </a:defRPr>
            </a:pPr>
            <a:r>
              <a:t>Deploy control-plane Phase 0 now</a:t>
            </a:r>
          </a:p>
          <a:p>
            <a:pPr>
              <a:spcAft>
                <a:spcPts val="1000"/>
              </a:spcAft>
              <a:defRPr sz="2200">
                <a:solidFill>
                  <a:srgbClr val="C1E4FF"/>
                </a:solidFill>
              </a:defRPr>
            </a:pPr>
            <a:r>
              <a:t>Run 2-3 customer pilot under tenancy model</a:t>
            </a:r>
          </a:p>
          <a:p>
            <a:pPr>
              <a:spcAft>
                <a:spcPts val="1000"/>
              </a:spcAft>
              <a:defRPr sz="2200">
                <a:solidFill>
                  <a:srgbClr val="C1E4FF"/>
                </a:solidFill>
              </a:defRPr>
            </a:pPr>
            <a:r>
              <a:t>Track latency, isolation, and reliability SLAs</a:t>
            </a:r>
          </a:p>
          <a:p>
            <a:pPr>
              <a:spcAft>
                <a:spcPts val="1000"/>
              </a:spcAft>
              <a:defRPr sz="2200">
                <a:solidFill>
                  <a:srgbClr val="C1E4FF"/>
                </a:solidFill>
              </a:defRPr>
            </a:pPr>
            <a:r>
              <a:t>Convert to commercial rollout with module licensing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