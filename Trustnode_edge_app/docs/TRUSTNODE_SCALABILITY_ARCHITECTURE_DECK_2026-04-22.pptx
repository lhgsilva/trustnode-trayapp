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A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75488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144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TrustNode Scalability
Architecture</a:t>
            </a:r>
          </a:p>
          <a:p>
            <a:r>
              <a:rPr sz="1700">
                <a:solidFill>
                  <a:srgbClr val="BFE6FF"/>
                </a:solidFill>
              </a:rPr>
              <a:t>Low-cost, secure, multi-customer, near-real-time production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926080"/>
            <a:ext cx="67665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Prepared date: 22 April 2026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Based on current TrustNode edge/cloud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Focus: minimal-change path to commercial rollout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Executive Summary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207007"/>
            <a:ext cx="109728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329184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What already works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Edge-first durability, outbox sync, scoped ingest, tenant-aware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90872" y="1207007"/>
            <a:ext cx="1097280" cy="2926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72768"/>
            <a:ext cx="329184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Main gap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Customer lifecycle, licensing, and edge activation are not yet first-class.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09728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7072" y="1207007"/>
            <a:ext cx="1097280" cy="292608"/>
          </a:xfrm>
          <a:prstGeom prst="roundRect">
            <a:avLst/>
          </a:prstGeom>
          <a:solidFill>
            <a:srgbClr val="0A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572768"/>
            <a:ext cx="274320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Best approach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Add a lightweight control plane over existing data plane.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10972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" y="3264408"/>
            <a:ext cx="109728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630168"/>
            <a:ext cx="10607040" cy="2084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Recommendation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Keep current telemetry architecture. Add control plane + wildcard tenant routing + stricter tenant security controls. This reaches sellable SaaS with minimal implementation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Current Architecture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859536"/>
            <a:ext cx="11173967" cy="5504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ology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110642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Target Three-Plane Architecture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859536"/>
            <a:ext cx="11173967" cy="5504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olog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110642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Security &amp; Trust Boundaries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" y="859536"/>
            <a:ext cx="11173967" cy="3355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ology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11064240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343400"/>
            <a:ext cx="5440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4453128"/>
            <a:ext cx="1097280" cy="2926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818888"/>
            <a:ext cx="507492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Critical controls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Outbound-only edge traffic, separate human/device auth, strict tenant scoping, RLS on user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343400"/>
            <a:ext cx="5440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1" y="4453128"/>
            <a:ext cx="109728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818888"/>
            <a:ext cx="507492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Resilience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PITR backups, ingest audit trail, deterministic retry/idempotency, cloud delay alarms.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Data Model &amp; Tenant Strategy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6012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069848"/>
            <a:ext cx="1097280" cy="292608"/>
          </a:xfrm>
          <a:prstGeom prst="roundRect">
            <a:avLst/>
          </a:prstGeom>
          <a:solidFill>
            <a:srgbClr val="0A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3291840" cy="1444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Raw + Latest split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telemetry_samples_raw (immutable) + latest_machine_state (live snapshot).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96012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90872" y="1069848"/>
            <a:ext cx="109728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35608"/>
            <a:ext cx="3291840" cy="1444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Tenant isolation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tenant_id on all rows + API scope checks + DB RLS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960120"/>
            <a:ext cx="3108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77072" y="1069848"/>
            <a:ext cx="109728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435608"/>
            <a:ext cx="2743200" cy="1444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Commercial tiers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Tier A shared DB, Tier B isolated schema, Tier C dedicated stack.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Recommended rollout by customer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85032"/>
            <a:ext cx="26060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Tier A (default)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685032"/>
            <a:ext cx="3977639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Shared DB + RLS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685032"/>
            <a:ext cx="1234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3685032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SMB / standard deployments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06824"/>
            <a:ext cx="26060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Tier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306824"/>
            <a:ext cx="3977639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Shared cluster + dedicated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306824"/>
            <a:ext cx="1234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4306824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Regulated mid-size 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28616"/>
            <a:ext cx="26060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Tier 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4928616"/>
            <a:ext cx="3977639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Dedicated project/cluster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4928616"/>
            <a:ext cx="1234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4928616"/>
            <a:ext cx="3063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6202D"/>
                </a:solidFill>
              </a:defRPr>
            </a:pPr>
            <a:r>
              <a:t>Enterprise/compliance-heavy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Customer URL, Access &amp; Licensing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115568"/>
            <a:ext cx="1097280" cy="292608"/>
          </a:xfrm>
          <a:prstGeom prst="roundRect">
            <a:avLst/>
          </a:prstGeom>
          <a:solidFill>
            <a:srgbClr val="0A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512064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URL strategy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Use wildcard subdomains: customer-a.trustnode.lsapps.app. Resolve host header -&gt; tenant context in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65392" y="1115568"/>
            <a:ext cx="109728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81328"/>
            <a:ext cx="484632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Licensing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Control modules by tenant license and role claims. Same user can access only allowed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0972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" y="3675887"/>
            <a:ext cx="109728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41648"/>
            <a:ext cx="10607040" cy="1993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Control plane entities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tenants, customers, edges, licenses, license_modules, edge_activation_codes, user_tenant_memberships, password_reset_events, security_audit_log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Implementation Timeline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78892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CC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3A5F"/>
                </a:solidFill>
              </a:rPr>
              <a:t>Phase 0</a:t>
            </a:r>
          </a:p>
          <a:p>
            <a:pPr>
              <a:defRPr sz="1100" b="1">
                <a:solidFill>
                  <a:srgbClr val="0A7CFF"/>
                </a:solidFill>
              </a:defRPr>
            </a:pPr>
            <a:r>
              <a:t>1-2 wks</a:t>
            </a:r>
          </a:p>
          <a:p>
            <a:pPr>
              <a:defRPr sz="1100">
                <a:solidFill>
                  <a:srgbClr val="4C6078"/>
                </a:solidFill>
              </a:defRPr>
            </a:pPr>
            <a:r>
              <a:t>Pipeline stability</a:t>
            </a:r>
            <a:br/>
            <a:r>
              <a:t>Ingest URL/token diagnostics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78892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CC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3A5F"/>
                </a:solidFill>
              </a:rPr>
              <a:t>Phase 1</a:t>
            </a:r>
          </a:p>
          <a:p>
            <a:pPr>
              <a:defRPr sz="1100" b="1">
                <a:solidFill>
                  <a:srgbClr val="0A7CFF"/>
                </a:solidFill>
              </a:defRPr>
            </a:pPr>
            <a:r>
              <a:t>2-3 wks</a:t>
            </a:r>
          </a:p>
          <a:p>
            <a:pPr>
              <a:defRPr sz="1100">
                <a:solidFill>
                  <a:srgbClr val="4C6078"/>
                </a:solidFill>
              </a:defRPr>
            </a:pPr>
            <a:r>
              <a:t>Control plane core</a:t>
            </a:r>
            <a:br/>
            <a:r>
              <a:t>Tenant/customer/edge/license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278892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CC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3A5F"/>
                </a:solidFill>
              </a:rPr>
              <a:t>Phase 2</a:t>
            </a:r>
          </a:p>
          <a:p>
            <a:pPr>
              <a:defRPr sz="1100" b="1">
                <a:solidFill>
                  <a:srgbClr val="0A7CFF"/>
                </a:solidFill>
              </a:defRPr>
            </a:pPr>
            <a:r>
              <a:t>2-3 wks</a:t>
            </a:r>
          </a:p>
          <a:p>
            <a:pPr>
              <a:defRPr sz="1100">
                <a:solidFill>
                  <a:srgbClr val="4C6078"/>
                </a:solidFill>
              </a:defRPr>
            </a:pPr>
            <a:r>
              <a:t>Tenant routing</a:t>
            </a:r>
            <a:br/>
            <a:r>
              <a:t>Wildcard subdomains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828800"/>
            <a:ext cx="278892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CC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3A5F"/>
                </a:solidFill>
              </a:rPr>
              <a:t>Phase 3</a:t>
            </a:r>
          </a:p>
          <a:p>
            <a:pPr>
              <a:defRPr sz="1100" b="1">
                <a:solidFill>
                  <a:srgbClr val="0A7CFF"/>
                </a:solidFill>
              </a:defRPr>
            </a:pPr>
            <a:r>
              <a:t>2-4 wks</a:t>
            </a:r>
          </a:p>
          <a:p>
            <a:pPr>
              <a:defRPr sz="1100">
                <a:solidFill>
                  <a:srgbClr val="4C6078"/>
                </a:solidFill>
              </a:defRPr>
            </a:pPr>
            <a:r>
              <a:t>Security hardening</a:t>
            </a:r>
            <a:br/>
            <a:r>
              <a:t>MFA + audits + PITR drills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SLA Targets &amp; Observability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115568"/>
            <a:ext cx="1097280" cy="292608"/>
          </a:xfrm>
          <a:prstGeom prst="roundRect">
            <a:avLst/>
          </a:prstGeom>
          <a:solidFill>
            <a:srgbClr val="0A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Local live latency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&lt;= 1 second from sample commit to local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115568"/>
            <a:ext cx="1097280" cy="292608"/>
          </a:xfrm>
          <a:prstGeom prst="roundRect">
            <a:avLst/>
          </a:prstGeom>
          <a:solidFill>
            <a:srgbClr val="0A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81328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Cloud live latency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&lt;= 2 seconds p95 from edge sample_ts to cloud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02752" y="1115568"/>
            <a:ext cx="109728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81328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Tenant isolation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0 cross-tenant data leakage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109728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" y="3218688"/>
            <a:ext cx="109728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84448"/>
            <a:ext cx="10607040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Key metrics to monitor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PLC read duration, collection loop duration, local DB write latency, outbox depth, oldest unsynced age, batch upload latency, ack success rate, duplicate rate, rejected rate, websocket clients, end-to-end cloud latency.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Top Risks &amp; Mitigations</a:t>
            </a:r>
          </a:p>
        </p:txBody>
      </p:sp>
      <p:pic>
        <p:nvPicPr>
          <p:cNvPr id="3" name="Picture 2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347472" cy="3474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- Architecture 2026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115568"/>
            <a:ext cx="1097280" cy="2926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512064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Risk 1: Sync misconfiguration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Mitigation: startup diagnostics + hard fail warnings for missing ingest URL/token.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65392" y="1115568"/>
            <a:ext cx="1097280" cy="2926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81328"/>
            <a:ext cx="48463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Risk 2: Tenant bleed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Mitigation: host-&gt;tenant binding, token scope checks, RLS policy tests in 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" y="2852928"/>
            <a:ext cx="1097280" cy="2926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512064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Risk 3: Backlog growth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Mitigation: adaptive batching, retry jitter, backlog alarms, capacity runbooks.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5392" y="2852928"/>
            <a:ext cx="1097280" cy="29260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18688"/>
            <a:ext cx="48463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Risk 4: Admin account compromise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Mitigation: enforce MFA + privileged audit logs + password reset policy.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10972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1" y="4590288"/>
            <a:ext cx="109728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956048"/>
            <a:ext cx="106070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5F"/>
                </a:solidFill>
              </a:rPr>
              <a:t>Go-live gate</a:t>
            </a:r>
          </a:p>
          <a:p>
            <a:pPr>
              <a:defRPr sz="1200">
                <a:solidFill>
                  <a:srgbClr val="4C6078"/>
                </a:solidFill>
              </a:defRPr>
            </a:pPr>
            <a:r>
              <a:t>No production rollout without cross-tenant isolation tests, restore drill pass, and p95 cloud latency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ustnod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73152"/>
            <a:ext cx="347472" cy="3474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  Execution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>
                <a:solidFill>
                  <a:srgbClr val="4C6078"/>
                </a:solidFill>
              </a:rPr>
              <a:t>TrustNode | Execute Phase 0 first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Recommended 30 / 60 / 90 Day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972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30 days: stabilize ingest bootstrap, add diagnostics, add sync alarms.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60 days: deploy control plane core (tenant/customer/edge/license + activation).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90 days: enforce MFA, wildcard customer routing, full isolation test suite.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Outcome: sellable, secure, low-cost multi-customer platform with clean scale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